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68" r:id="rId11"/>
    <p:sldId id="269" r:id="rId12"/>
    <p:sldId id="265" r:id="rId13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33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A7A99-DE38-9E69-DF39-6482EA044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2086C-5EAD-03ED-7933-5D33128C2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15D55-93BA-5431-E25A-DEA4D21F5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130DD-8D17-134F-C779-04264BDF99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84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5FB2C-3995-C6B2-93BD-0E97F8958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4413D2-7761-F572-EB9A-912DBEE98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ADA9A-6C6C-796D-39D9-BD611803B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47C3C-FC03-CB80-2F19-491F9291B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511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08DA3-530E-A069-7C2B-57484714D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09C4C-263D-BAA6-A96D-08C56FDC2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4AE9F-9319-AC54-86CC-2848329B5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14FE8-1430-376C-B336-CF5BB6FE58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886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905" y="22515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ru-RU" sz="445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Отчёт по практике ПМ04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77749" y="18616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ru-RU" sz="175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ПМ.04 Сопровождение и обслуживание программного обеспечения компьютерных систем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57250" y="3285851"/>
            <a:ext cx="13042821" cy="1690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7250" y="49028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Студент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7250" y="5484019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Путников Дмитрий Васильевич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EFEF22-48A3-BF3B-9F9B-4FF913D5273D}"/>
              </a:ext>
            </a:extLst>
          </p:cNvPr>
          <p:cNvSpPr txBox="1"/>
          <p:nvPr/>
        </p:nvSpPr>
        <p:spPr>
          <a:xfrm>
            <a:off x="3941921" y="343647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ru-RU" altLang="ru-RU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  <p:pic>
        <p:nvPicPr>
          <p:cNvPr id="12" name="Picture 14" descr="touch-icon-ipad-retina">
            <a:extLst>
              <a:ext uri="{FF2B5EF4-FFF2-40B4-BE49-F238E27FC236}">
                <a16:creationId xmlns:a16="http://schemas.microsoft.com/office/drawing/2014/main" id="{CFBB7716-C69E-CE8F-A83F-96247B05F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216" y="99715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03AC1DAC-A9D3-28AF-1562-5EC808D84599}"/>
              </a:ext>
            </a:extLst>
          </p:cNvPr>
          <p:cNvSpPr/>
          <p:nvPr/>
        </p:nvSpPr>
        <p:spPr>
          <a:xfrm>
            <a:off x="9041942" y="4455862"/>
            <a:ext cx="5340808" cy="3055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Выполнил:</a:t>
            </a: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Путников Дмитрий Васильевич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Группа 23П-2, специальность 09.02.07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«Информационные системы и программирование»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Форма обучения: очная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Руководитель:</a:t>
            </a: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Пентин</a:t>
            </a:r>
            <a:r>
              <a:rPr lang="ru-RU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Николай Сергеевич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BC1AE8B-3CED-1BC4-8A4E-BD13479E1F75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FC6919E7-B659-E6EC-7866-BAE6648C902D}"/>
              </a:ext>
            </a:extLst>
          </p:cNvPr>
          <p:cNvSpPr/>
          <p:nvPr/>
        </p:nvSpPr>
        <p:spPr>
          <a:xfrm>
            <a:off x="5836800" y="7894649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00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г.</a:t>
            </a:r>
            <a:r>
              <a:rPr lang="en-US" sz="200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Слободской</a:t>
            </a:r>
            <a:r>
              <a:rPr lang="ru-RU" sz="200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2026г.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44260" y="732235"/>
            <a:ext cx="6317218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Цели и задачи практики</a:t>
            </a:r>
            <a:endParaRPr lang="en-US" sz="4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3612" y="1929828"/>
            <a:ext cx="1314188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освоение процессов установки, настройки и сопровождения программного обеспечения компьютерных систем.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C0A63881-7EA1-A127-EDEF-CF5DF2061F43}"/>
              </a:ext>
            </a:extLst>
          </p:cNvPr>
          <p:cNvSpPr/>
          <p:nvPr/>
        </p:nvSpPr>
        <p:spPr>
          <a:xfrm>
            <a:off x="744260" y="1515554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D08632D-7B6E-095E-357B-7DD210AAFD25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942CEAEB-C530-2CA9-DF23-0648C70A8FDA}"/>
              </a:ext>
            </a:extLst>
          </p:cNvPr>
          <p:cNvSpPr/>
          <p:nvPr/>
        </p:nvSpPr>
        <p:spPr>
          <a:xfrm>
            <a:off x="721400" y="2685637"/>
            <a:ext cx="6471285" cy="1357247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C4EABE81-D65B-6FDD-7F37-6C5DA5203936}"/>
              </a:ext>
            </a:extLst>
          </p:cNvPr>
          <p:cNvSpPr/>
          <p:nvPr/>
        </p:nvSpPr>
        <p:spPr>
          <a:xfrm>
            <a:off x="767120" y="2746232"/>
            <a:ext cx="6425565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CBC194-F772-E0ED-6F8B-E54262533260}"/>
              </a:ext>
            </a:extLst>
          </p:cNvPr>
          <p:cNvSpPr txBox="1"/>
          <p:nvPr/>
        </p:nvSpPr>
        <p:spPr>
          <a:xfrm>
            <a:off x="721400" y="3384169"/>
            <a:ext cx="6011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и настройка средств виртуализации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VirtualBox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C7D9E875-14C3-3E02-1A30-167F01550806}"/>
              </a:ext>
            </a:extLst>
          </p:cNvPr>
          <p:cNvSpPr/>
          <p:nvPr/>
        </p:nvSpPr>
        <p:spPr>
          <a:xfrm>
            <a:off x="721400" y="4022106"/>
            <a:ext cx="6471285" cy="1357247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AD9DA1AA-0B42-7469-2BA7-20D7FC558E39}"/>
              </a:ext>
            </a:extLst>
          </p:cNvPr>
          <p:cNvSpPr/>
          <p:nvPr/>
        </p:nvSpPr>
        <p:spPr>
          <a:xfrm>
            <a:off x="767120" y="4082701"/>
            <a:ext cx="6425565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4D97C8-38BD-D550-7C60-A870FB74B8A5}"/>
              </a:ext>
            </a:extLst>
          </p:cNvPr>
          <p:cNvSpPr txBox="1"/>
          <p:nvPr/>
        </p:nvSpPr>
        <p:spPr>
          <a:xfrm>
            <a:off x="721400" y="4720638"/>
            <a:ext cx="6011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операционных систем (Ubuntu, РЕД ОС, Ubuntu Server)</a:t>
            </a:r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3A8FC0AE-3663-37B5-6771-1E61EABE6783}"/>
              </a:ext>
            </a:extLst>
          </p:cNvPr>
          <p:cNvSpPr/>
          <p:nvPr/>
        </p:nvSpPr>
        <p:spPr>
          <a:xfrm>
            <a:off x="721400" y="5358575"/>
            <a:ext cx="6471285" cy="1357247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9F0BF4F6-8DE7-3E8A-3EAF-82E7D8C4797C}"/>
              </a:ext>
            </a:extLst>
          </p:cNvPr>
          <p:cNvSpPr/>
          <p:nvPr/>
        </p:nvSpPr>
        <p:spPr>
          <a:xfrm>
            <a:off x="767120" y="5419170"/>
            <a:ext cx="6425565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465290-B629-CDD2-1F96-626EA68E9C1D}"/>
              </a:ext>
            </a:extLst>
          </p:cNvPr>
          <p:cNvSpPr txBox="1"/>
          <p:nvPr/>
        </p:nvSpPr>
        <p:spPr>
          <a:xfrm>
            <a:off x="721400" y="6057107"/>
            <a:ext cx="6011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и настройка прикладного ПО и драйверов</a:t>
            </a:r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2E83CFE6-8ED3-BBD3-0F62-37D726A031FF}"/>
              </a:ext>
            </a:extLst>
          </p:cNvPr>
          <p:cNvSpPr/>
          <p:nvPr/>
        </p:nvSpPr>
        <p:spPr>
          <a:xfrm>
            <a:off x="721400" y="6662751"/>
            <a:ext cx="6471285" cy="1357247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588E15CD-88C4-00B5-FD15-40EF85A65567}"/>
              </a:ext>
            </a:extLst>
          </p:cNvPr>
          <p:cNvSpPr/>
          <p:nvPr/>
        </p:nvSpPr>
        <p:spPr>
          <a:xfrm>
            <a:off x="767120" y="6723346"/>
            <a:ext cx="6425565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CDD5C9-A600-EF7B-5271-7807357C9F45}"/>
              </a:ext>
            </a:extLst>
          </p:cNvPr>
          <p:cNvSpPr txBox="1"/>
          <p:nvPr/>
        </p:nvSpPr>
        <p:spPr>
          <a:xfrm>
            <a:off x="721400" y="7361283"/>
            <a:ext cx="6011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сред разработки (1С:Предприятие, VS Code, Ред БД)</a:t>
            </a:r>
          </a:p>
        </p:txBody>
      </p:sp>
      <p:sp>
        <p:nvSpPr>
          <p:cNvPr id="46" name="Shape 9">
            <a:extLst>
              <a:ext uri="{FF2B5EF4-FFF2-40B4-BE49-F238E27FC236}">
                <a16:creationId xmlns:a16="http://schemas.microsoft.com/office/drawing/2014/main" id="{F58CE383-6131-2DC6-9569-8B3910E07CC0}"/>
              </a:ext>
            </a:extLst>
          </p:cNvPr>
          <p:cNvSpPr/>
          <p:nvPr/>
        </p:nvSpPr>
        <p:spPr>
          <a:xfrm>
            <a:off x="7192685" y="2685637"/>
            <a:ext cx="6471285" cy="1357247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10">
            <a:extLst>
              <a:ext uri="{FF2B5EF4-FFF2-40B4-BE49-F238E27FC236}">
                <a16:creationId xmlns:a16="http://schemas.microsoft.com/office/drawing/2014/main" id="{DC08F10D-63BC-799F-6687-C00E454B7404}"/>
              </a:ext>
            </a:extLst>
          </p:cNvPr>
          <p:cNvSpPr/>
          <p:nvPr/>
        </p:nvSpPr>
        <p:spPr>
          <a:xfrm>
            <a:off x="7238405" y="2746232"/>
            <a:ext cx="6425565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238C2DF-F0E0-EC5C-004D-D2629B95F4ED}"/>
              </a:ext>
            </a:extLst>
          </p:cNvPr>
          <p:cNvSpPr txBox="1"/>
          <p:nvPr/>
        </p:nvSpPr>
        <p:spPr>
          <a:xfrm>
            <a:off x="7192685" y="3384169"/>
            <a:ext cx="60116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Доработка программного модуля (CRUD, история покупок),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(5 тестов)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9">
            <a:extLst>
              <a:ext uri="{FF2B5EF4-FFF2-40B4-BE49-F238E27FC236}">
                <a16:creationId xmlns:a16="http://schemas.microsoft.com/office/drawing/2014/main" id="{3FE85804-3A47-A2B2-7F89-6CFCC5088573}"/>
              </a:ext>
            </a:extLst>
          </p:cNvPr>
          <p:cNvSpPr/>
          <p:nvPr/>
        </p:nvSpPr>
        <p:spPr>
          <a:xfrm>
            <a:off x="7192685" y="4009722"/>
            <a:ext cx="6471285" cy="1357247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10">
            <a:extLst>
              <a:ext uri="{FF2B5EF4-FFF2-40B4-BE49-F238E27FC236}">
                <a16:creationId xmlns:a16="http://schemas.microsoft.com/office/drawing/2014/main" id="{4E373F9D-7D82-C4AA-7CB6-726CE7701473}"/>
              </a:ext>
            </a:extLst>
          </p:cNvPr>
          <p:cNvSpPr/>
          <p:nvPr/>
        </p:nvSpPr>
        <p:spPr>
          <a:xfrm>
            <a:off x="7238405" y="4070317"/>
            <a:ext cx="6425565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194062-E398-DE94-D747-F364905BE18F}"/>
              </a:ext>
            </a:extLst>
          </p:cNvPr>
          <p:cNvSpPr txBox="1"/>
          <p:nvPr/>
        </p:nvSpPr>
        <p:spPr>
          <a:xfrm>
            <a:off x="7192685" y="4708254"/>
            <a:ext cx="6011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Развёртывание готовых решений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API,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TTS)</a:t>
            </a:r>
          </a:p>
        </p:txBody>
      </p:sp>
      <p:sp>
        <p:nvSpPr>
          <p:cNvPr id="52" name="Shape 9">
            <a:extLst>
              <a:ext uri="{FF2B5EF4-FFF2-40B4-BE49-F238E27FC236}">
                <a16:creationId xmlns:a16="http://schemas.microsoft.com/office/drawing/2014/main" id="{1B795581-61AA-878D-F966-4D6F3E762ABD}"/>
              </a:ext>
            </a:extLst>
          </p:cNvPr>
          <p:cNvSpPr/>
          <p:nvPr/>
        </p:nvSpPr>
        <p:spPr>
          <a:xfrm>
            <a:off x="7187883" y="5394402"/>
            <a:ext cx="6471285" cy="1357247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52AEF334-7A6F-E24F-4B57-5416A15BC0CC}"/>
              </a:ext>
            </a:extLst>
          </p:cNvPr>
          <p:cNvSpPr/>
          <p:nvPr/>
        </p:nvSpPr>
        <p:spPr>
          <a:xfrm>
            <a:off x="7233603" y="5454997"/>
            <a:ext cx="6425565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E38FE8-5E8E-673C-351A-E92106B3B889}"/>
              </a:ext>
            </a:extLst>
          </p:cNvPr>
          <p:cNvSpPr txBox="1"/>
          <p:nvPr/>
        </p:nvSpPr>
        <p:spPr>
          <a:xfrm>
            <a:off x="7187883" y="6092934"/>
            <a:ext cx="6011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и настройка файлового сервера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OpenMediaVault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9">
            <a:extLst>
              <a:ext uri="{FF2B5EF4-FFF2-40B4-BE49-F238E27FC236}">
                <a16:creationId xmlns:a16="http://schemas.microsoft.com/office/drawing/2014/main" id="{49944730-560A-CB40-01ED-FE796B5B5E3A}"/>
              </a:ext>
            </a:extLst>
          </p:cNvPr>
          <p:cNvSpPr/>
          <p:nvPr/>
        </p:nvSpPr>
        <p:spPr>
          <a:xfrm>
            <a:off x="7187883" y="6698578"/>
            <a:ext cx="6471285" cy="1357247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10">
            <a:extLst>
              <a:ext uri="{FF2B5EF4-FFF2-40B4-BE49-F238E27FC236}">
                <a16:creationId xmlns:a16="http://schemas.microsoft.com/office/drawing/2014/main" id="{0B70079A-F68C-7CA9-73EE-77CC66BCBF72}"/>
              </a:ext>
            </a:extLst>
          </p:cNvPr>
          <p:cNvSpPr/>
          <p:nvPr/>
        </p:nvSpPr>
        <p:spPr>
          <a:xfrm>
            <a:off x="7233603" y="6759173"/>
            <a:ext cx="6425565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27FD19-C4E2-DE70-DD1D-01CCE7FCB626}"/>
              </a:ext>
            </a:extLst>
          </p:cNvPr>
          <p:cNvSpPr txBox="1"/>
          <p:nvPr/>
        </p:nvSpPr>
        <p:spPr>
          <a:xfrm>
            <a:off x="7187883" y="7397110"/>
            <a:ext cx="6011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веб-сайта на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WordPress (Open Server Panel)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21187" y="747950"/>
            <a:ext cx="7642146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ru-RU" sz="32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Средства виртуализации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234A396-FE78-3D47-9C0D-2EA09DBBBD7D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0BEED1DB-96B9-9F64-8D2F-BA28C4635E6D}"/>
              </a:ext>
            </a:extLst>
          </p:cNvPr>
          <p:cNvSpPr/>
          <p:nvPr/>
        </p:nvSpPr>
        <p:spPr>
          <a:xfrm>
            <a:off x="744260" y="1515554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83B5F8-6DAA-7D17-8905-BB25874550F1}"/>
              </a:ext>
            </a:extLst>
          </p:cNvPr>
          <p:cNvSpPr txBox="1"/>
          <p:nvPr/>
        </p:nvSpPr>
        <p:spPr>
          <a:xfrm>
            <a:off x="744260" y="1794933"/>
            <a:ext cx="6570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виртуализации: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VirtualBox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D463106-9F93-6BBB-4BDE-CAFE7F08A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096978"/>
              </p:ext>
            </p:extLst>
          </p:nvPr>
        </p:nvGraphicFramePr>
        <p:xfrm>
          <a:off x="744259" y="2233030"/>
          <a:ext cx="657094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188">
                  <a:extLst>
                    <a:ext uri="{9D8B030D-6E8A-4147-A177-3AD203B41FA5}">
                      <a16:colId xmlns:a16="http://schemas.microsoft.com/office/drawing/2014/main" val="3627842103"/>
                    </a:ext>
                  </a:extLst>
                </a:gridCol>
                <a:gridCol w="1314188">
                  <a:extLst>
                    <a:ext uri="{9D8B030D-6E8A-4147-A177-3AD203B41FA5}">
                      <a16:colId xmlns:a16="http://schemas.microsoft.com/office/drawing/2014/main" val="2106617773"/>
                    </a:ext>
                  </a:extLst>
                </a:gridCol>
                <a:gridCol w="1314188">
                  <a:extLst>
                    <a:ext uri="{9D8B030D-6E8A-4147-A177-3AD203B41FA5}">
                      <a16:colId xmlns:a16="http://schemas.microsoft.com/office/drawing/2014/main" val="1625574493"/>
                    </a:ext>
                  </a:extLst>
                </a:gridCol>
                <a:gridCol w="1314188">
                  <a:extLst>
                    <a:ext uri="{9D8B030D-6E8A-4147-A177-3AD203B41FA5}">
                      <a16:colId xmlns:a16="http://schemas.microsoft.com/office/drawing/2014/main" val="265859348"/>
                    </a:ext>
                  </a:extLst>
                </a:gridCol>
                <a:gridCol w="1314188">
                  <a:extLst>
                    <a:ext uri="{9D8B030D-6E8A-4147-A177-3AD203B41FA5}">
                      <a16:colId xmlns:a16="http://schemas.microsoft.com/office/drawing/2014/main" val="684682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ВМ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ОЗУ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Диск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Сеть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4003885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Ubuntu-VM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Ubuntu 22.04 LTS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ГБ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 ГБ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033456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REDOS-VM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РЕД ОС 8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ГБ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 ГБ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11003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Ubuntu-Server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Ubuntu Server 22.04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ГБ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 ГБ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598880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OMV-VM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OpenMediaVault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ГБ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 ГБ + доп. диск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Мост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20293199"/>
                  </a:ext>
                </a:extLst>
              </a:tr>
            </a:tbl>
          </a:graphicData>
        </a:graphic>
      </p:graphicFrame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B1DD288-A205-3090-8190-53A67CD7F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905" y="1647132"/>
            <a:ext cx="6154235" cy="61412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1047" y="73218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ru-RU" sz="305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Установленные операционные системы</a:t>
            </a:r>
            <a:endParaRPr lang="en-US" sz="3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8" name="Прямоугольник 7">
            <a:extLst>
              <a:ext uri="{FF2B5EF4-FFF2-40B4-BE49-F238E27FC236}">
                <a16:creationId xmlns:a16="http://schemas.microsoft.com/office/drawing/2014/main" id="{E517C4BD-8052-D8BF-C2CD-0E08F8FF52A7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2FBF6293-B717-45E0-5D6F-0368B95E90F4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7F7DBA4-900A-2FC5-8FD6-5B7073F1A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920" y="1352940"/>
            <a:ext cx="9416485" cy="6664787"/>
          </a:xfrm>
          <a:prstGeom prst="rect">
            <a:avLst/>
          </a:prstGeom>
        </p:spPr>
      </p:pic>
      <p:sp>
        <p:nvSpPr>
          <p:cNvPr id="3" name="Shape 10">
            <a:extLst>
              <a:ext uri="{FF2B5EF4-FFF2-40B4-BE49-F238E27FC236}">
                <a16:creationId xmlns:a16="http://schemas.microsoft.com/office/drawing/2014/main" id="{A6A68FFA-1824-3D27-9886-8BBD45ACE873}"/>
              </a:ext>
            </a:extLst>
          </p:cNvPr>
          <p:cNvSpPr/>
          <p:nvPr/>
        </p:nvSpPr>
        <p:spPr>
          <a:xfrm>
            <a:off x="761047" y="1352939"/>
            <a:ext cx="4018879" cy="1608303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 Desktop 22.04.5 LTS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Язык: русский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Дополнения гостевой ОС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Guest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Additions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установлены</a:t>
            </a:r>
          </a:p>
          <a:p>
            <a:pPr algn="ctr"/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10">
            <a:extLst>
              <a:ext uri="{FF2B5EF4-FFF2-40B4-BE49-F238E27FC236}">
                <a16:creationId xmlns:a16="http://schemas.microsoft.com/office/drawing/2014/main" id="{ED43D59C-492B-2AFF-1688-D0CE9F04DB1B}"/>
              </a:ext>
            </a:extLst>
          </p:cNvPr>
          <p:cNvSpPr/>
          <p:nvPr/>
        </p:nvSpPr>
        <p:spPr>
          <a:xfrm>
            <a:off x="761047" y="1352939"/>
            <a:ext cx="4018879" cy="1608303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 ОС 8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Графическое окружение MATE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-пароль: 123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(в группе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wheel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0FA37AD-F0F8-E275-C8CF-D2C351AB3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6919" y="1293853"/>
            <a:ext cx="9426573" cy="6723873"/>
          </a:xfrm>
          <a:prstGeom prst="rect">
            <a:avLst/>
          </a:prstGeom>
        </p:spPr>
      </p:pic>
      <p:sp>
        <p:nvSpPr>
          <p:cNvPr id="10" name="Shape 10">
            <a:extLst>
              <a:ext uri="{FF2B5EF4-FFF2-40B4-BE49-F238E27FC236}">
                <a16:creationId xmlns:a16="http://schemas.microsoft.com/office/drawing/2014/main" id="{AB932D47-029C-409A-79DA-8670156988D1}"/>
              </a:ext>
            </a:extLst>
          </p:cNvPr>
          <p:cNvSpPr/>
          <p:nvPr/>
        </p:nvSpPr>
        <p:spPr>
          <a:xfrm>
            <a:off x="761046" y="1380612"/>
            <a:ext cx="4018879" cy="1781820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 Server 22.04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без графического интерфейса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по SSH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Использовалась для развёртывания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TTS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D1C823C-4E1E-48BA-6091-A4D06F512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474" y="1293853"/>
            <a:ext cx="9413061" cy="67238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E4ACC6F-364F-02D6-9B7E-388D7C9E8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759" y="1223128"/>
            <a:ext cx="9032241" cy="6546767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706993" y="555903"/>
            <a:ext cx="505039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ru-RU" sz="395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Установленное программное обеспечение</a:t>
            </a:r>
            <a:endParaRPr lang="en-US" sz="3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2293" y="1423809"/>
            <a:ext cx="4738767" cy="1881430"/>
          </a:xfrm>
          <a:prstGeom prst="roundRect">
            <a:avLst>
              <a:gd name="adj" fmla="val 526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6993" y="1459765"/>
            <a:ext cx="4367371" cy="1820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Базовое ПО: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7-</a:t>
            </a:r>
            <a:r>
              <a:rPr lang="en-US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Zip (</a:t>
            </a: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архиватор)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Mozilla Firefox (</a:t>
            </a: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браузер)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LibreOffice (</a:t>
            </a: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офисный пакет)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Foxit Reader (PDF-</a:t>
            </a: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ридер)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2293" y="3295476"/>
            <a:ext cx="4682331" cy="45719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1ED4381-2C7C-B2C7-360B-7786CDFA97E0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F30A1358-2F39-003D-6F08-A6DB22B27F1A}"/>
              </a:ext>
            </a:extLst>
          </p:cNvPr>
          <p:cNvSpPr/>
          <p:nvPr/>
        </p:nvSpPr>
        <p:spPr>
          <a:xfrm>
            <a:off x="706993" y="118717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F348645F-A2F4-AB47-1EE8-45CFDB65413D}"/>
              </a:ext>
            </a:extLst>
          </p:cNvPr>
          <p:cNvSpPr/>
          <p:nvPr/>
        </p:nvSpPr>
        <p:spPr>
          <a:xfrm>
            <a:off x="602293" y="3305239"/>
            <a:ext cx="4738767" cy="1881430"/>
          </a:xfrm>
          <a:prstGeom prst="roundRect">
            <a:avLst>
              <a:gd name="adj" fmla="val 526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E0AF311D-E2C9-EFDE-EE91-5320E8AD53B7}"/>
              </a:ext>
            </a:extLst>
          </p:cNvPr>
          <p:cNvSpPr/>
          <p:nvPr/>
        </p:nvSpPr>
        <p:spPr>
          <a:xfrm>
            <a:off x="706992" y="3356628"/>
            <a:ext cx="4367371" cy="1820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Среды разработки: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VS Code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1С:Предприятие (сервер)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Ред БД (</a:t>
            </a:r>
            <a:r>
              <a:rPr lang="ru-RU" sz="1550" dirty="0" err="1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RDBExpert</a:t>
            </a: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)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A91CCB5C-4501-FFDA-58AC-5EA7032769F6}"/>
              </a:ext>
            </a:extLst>
          </p:cNvPr>
          <p:cNvSpPr/>
          <p:nvPr/>
        </p:nvSpPr>
        <p:spPr>
          <a:xfrm>
            <a:off x="602293" y="3310909"/>
            <a:ext cx="4624471" cy="45719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7435498-11C7-C4F4-241C-5F5BFFE24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928" y="1205150"/>
            <a:ext cx="9129072" cy="654676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3911DFB-217D-2E8E-D8C7-71BDC691B7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928" y="1205149"/>
            <a:ext cx="9129072" cy="65979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82299" y="411879"/>
            <a:ext cx="5847993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ru-RU" sz="365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Доработка программного модуля</a:t>
            </a:r>
            <a:endParaRPr lang="en-US" sz="3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706993" y="1966531"/>
            <a:ext cx="3849132" cy="326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функционал: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CRUD-операции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Update,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для работы с партнёрами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 списка историй покупок конкретного партнёра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Unit-тестирование (5 тестов):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новой записи о партнёре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Чтение данных партнёра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Обновление информации о партнёре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партнёра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 списка историй покупок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тесты пройдены успешно.</a:t>
            </a:r>
          </a:p>
        </p:txBody>
      </p:sp>
      <p:sp useBgFill="1"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4D86D2-9C95-4FCF-E3A3-16F9B206317B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F21DA7F4-BF31-7B47-0B00-241656AD9181}"/>
              </a:ext>
            </a:extLst>
          </p:cNvPr>
          <p:cNvSpPr/>
          <p:nvPr/>
        </p:nvSpPr>
        <p:spPr>
          <a:xfrm>
            <a:off x="706993" y="10549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5947B70-9CC3-C930-015F-14CD6EB9F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564" y="1480770"/>
            <a:ext cx="9421540" cy="5268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9368" y="336925"/>
            <a:ext cx="6133743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ru-RU" sz="38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Проектирование системы уведомлений для Канбан (1С)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5623" y="1385527"/>
            <a:ext cx="6395204" cy="2163247"/>
          </a:xfrm>
          <a:prstGeom prst="roundRect">
            <a:avLst>
              <a:gd name="adj" fmla="val 6174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9338" y="1493400"/>
            <a:ext cx="45719" cy="1947499"/>
          </a:xfrm>
          <a:prstGeom prst="roundRect">
            <a:avLst>
              <a:gd name="adj" fmla="val 31977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9963" y="1499073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Созданные объекты метаданных (префикс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_):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8562" y="1833479"/>
            <a:ext cx="5891093" cy="1412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Перечисление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пр_ТипыУведомленийКанбан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Регистры сведений: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пр_НастройкиУведомленийПроектов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пр_ДатыНачалаСтадий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пр_ОтправленныеУведомления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Общий модуль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пр_УведомленияКанбан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Внешняя обработка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пр_ПроверкаКанбанУведомлений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97907" y="3731536"/>
            <a:ext cx="6395204" cy="1947499"/>
          </a:xfrm>
          <a:prstGeom prst="roundRect">
            <a:avLst>
              <a:gd name="adj" fmla="val 7378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8382" y="3751167"/>
            <a:ext cx="45719" cy="1825114"/>
          </a:xfrm>
          <a:prstGeom prst="roundRect">
            <a:avLst>
              <a:gd name="adj" fmla="val 31977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3413" y="3844445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ru-RU" sz="19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Функционал: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3413" y="4179002"/>
            <a:ext cx="5891093" cy="1469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Фиксация даты перехода задачи в статусы «Анализ» / «В работе»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Ежедневная проверка просроченных задач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Однократная отправка уведомлений («Колокольчик») ответственному сотруднику</a:t>
            </a:r>
          </a:p>
        </p:txBody>
      </p:sp>
      <p:sp useBgFill="1"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2975B31-5FE7-DE04-453B-C4ADB4142421}"/>
              </a:ext>
            </a:extLst>
          </p:cNvPr>
          <p:cNvSpPr/>
          <p:nvPr/>
        </p:nvSpPr>
        <p:spPr>
          <a:xfrm>
            <a:off x="12879659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B99555D5-37FC-186C-1066-0ACDD12E2604}"/>
              </a:ext>
            </a:extLst>
          </p:cNvPr>
          <p:cNvSpPr/>
          <p:nvPr/>
        </p:nvSpPr>
        <p:spPr>
          <a:xfrm>
            <a:off x="706993" y="10549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0EA736B-C262-588E-4199-8FF08E98A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403" y="1385527"/>
            <a:ext cx="7184569" cy="37601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4A899-64C3-BE99-FE2C-018FB9F09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5373C70-4545-3C52-CBB4-6C1F1EE64B33}"/>
              </a:ext>
            </a:extLst>
          </p:cNvPr>
          <p:cNvSpPr/>
          <p:nvPr/>
        </p:nvSpPr>
        <p:spPr>
          <a:xfrm>
            <a:off x="761047" y="73218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ru-RU" sz="305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Развёртывание готовых решений</a:t>
            </a:r>
            <a:endParaRPr lang="en-US" sz="3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8" name="Прямоугольник 7">
            <a:extLst>
              <a:ext uri="{FF2B5EF4-FFF2-40B4-BE49-F238E27FC236}">
                <a16:creationId xmlns:a16="http://schemas.microsoft.com/office/drawing/2014/main" id="{D0228C15-FD8C-A63E-4DBC-3A9AEC6E0BA0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AD7B7C0B-91AF-4CE4-54C8-8F3E541801B9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53AD262-9E3E-4FAB-3A6D-97CD5E245D66}"/>
              </a:ext>
            </a:extLst>
          </p:cNvPr>
          <p:cNvSpPr/>
          <p:nvPr/>
        </p:nvSpPr>
        <p:spPr>
          <a:xfrm>
            <a:off x="761047" y="1472103"/>
            <a:ext cx="4018879" cy="1781820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на Ubuntu Server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Импорт тестовых данных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Подключение через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Compass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444B316-8B00-F414-88AB-746D35B3F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83" y="1322849"/>
            <a:ext cx="9575716" cy="6357939"/>
          </a:xfrm>
          <a:prstGeom prst="rect">
            <a:avLst/>
          </a:prstGeom>
        </p:spPr>
      </p:pic>
      <p:sp>
        <p:nvSpPr>
          <p:cNvPr id="15" name="Shape 10">
            <a:extLst>
              <a:ext uri="{FF2B5EF4-FFF2-40B4-BE49-F238E27FC236}">
                <a16:creationId xmlns:a16="http://schemas.microsoft.com/office/drawing/2014/main" id="{F576F445-FB94-AD74-9987-F0A2C8950197}"/>
              </a:ext>
            </a:extLst>
          </p:cNvPr>
          <p:cNvSpPr/>
          <p:nvPr/>
        </p:nvSpPr>
        <p:spPr>
          <a:xfrm>
            <a:off x="761046" y="1472103"/>
            <a:ext cx="4018879" cy="1781820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+ API-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сервис: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Compose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Вместо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Firecrawl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Fusio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запустились) – реализован альтернативный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90B9E29-9256-49EF-610E-369BCEFBC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683" y="1345112"/>
            <a:ext cx="9575718" cy="6417535"/>
          </a:xfrm>
          <a:prstGeom prst="rect">
            <a:avLst/>
          </a:prstGeom>
        </p:spPr>
      </p:pic>
      <p:sp>
        <p:nvSpPr>
          <p:cNvPr id="18" name="Shape 10">
            <a:extLst>
              <a:ext uri="{FF2B5EF4-FFF2-40B4-BE49-F238E27FC236}">
                <a16:creationId xmlns:a16="http://schemas.microsoft.com/office/drawing/2014/main" id="{58AC4F46-6AF4-88A5-CFC9-8E3E550BD4BE}"/>
              </a:ext>
            </a:extLst>
          </p:cNvPr>
          <p:cNvSpPr/>
          <p:nvPr/>
        </p:nvSpPr>
        <p:spPr>
          <a:xfrm>
            <a:off x="761044" y="1493706"/>
            <a:ext cx="4018879" cy="1781820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Piper TTS + API: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Загружена русская голосовая модель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ru_RU-irina-high.onnx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на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принимает текст → возвращает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38918EB-9BB7-8AF6-2336-736E652086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524" y="1322849"/>
            <a:ext cx="9575716" cy="645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36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94611" y="39758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ru-RU" sz="39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Файловый сервер </a:t>
            </a:r>
            <a:r>
              <a:rPr lang="en-US" sz="3900" dirty="0" err="1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OpenMediaVault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50916" y="1331951"/>
            <a:ext cx="5445084" cy="5401389"/>
          </a:xfrm>
          <a:prstGeom prst="roundRect">
            <a:avLst>
              <a:gd name="adj" fmla="val 551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49273" y="1587699"/>
            <a:ext cx="303014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950" dirty="0">
                <a:solidFill>
                  <a:srgbClr val="FFFFFF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Установка и настройка: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849274" y="1897857"/>
            <a:ext cx="4807148" cy="1372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Установка на отдельную ВМ</a:t>
            </a:r>
          </a:p>
          <a:p>
            <a:pPr marL="0" indent="0" algn="l">
              <a:lnSpc>
                <a:spcPts val="2300"/>
              </a:lnSpc>
              <a:buNone/>
            </a:pP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Настройка сетевых интерфейсов (статический IP)</a:t>
            </a:r>
          </a:p>
          <a:p>
            <a:pPr marL="0" indent="0" algn="l">
              <a:lnSpc>
                <a:spcPts val="2300"/>
              </a:lnSpc>
              <a:buNone/>
            </a:pP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Создание пользователей и общих папок</a:t>
            </a:r>
          </a:p>
          <a:p>
            <a:pPr marL="0" indent="0" algn="l">
              <a:lnSpc>
                <a:spcPts val="2300"/>
              </a:lnSpc>
              <a:buNone/>
            </a:pP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Настройка SMB/CIFS и NFS-ресурсов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835049" y="3395107"/>
            <a:ext cx="6267569" cy="14883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35049" y="3395107"/>
            <a:ext cx="4148431" cy="1372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300"/>
              </a:lnSpc>
              <a:buSzPct val="100000"/>
            </a:pP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Результат:</a:t>
            </a: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Загружены файлы разных форматов (.</a:t>
            </a:r>
            <a:r>
              <a:rPr lang="ru-RU" sz="1550" dirty="0" err="1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rar</a:t>
            </a: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.</a:t>
            </a:r>
            <a:r>
              <a:rPr lang="ru-RU" sz="1550" dirty="0" err="1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docx</a:t>
            </a: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.</a:t>
            </a:r>
            <a:r>
              <a:rPr lang="ru-RU" sz="1550" dirty="0" err="1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pptx</a:t>
            </a: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.</a:t>
            </a:r>
            <a:r>
              <a:rPr lang="ru-RU" sz="1550" dirty="0" err="1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bmp</a:t>
            </a: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)</a:t>
            </a: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ru-RU" sz="155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Доступ к общей папке по сети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115B8E7-76EE-B7BD-0881-AA4D74F40679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A8559C59-DAA7-B72F-8D91-51CB3FA6C602}"/>
              </a:ext>
            </a:extLst>
          </p:cNvPr>
          <p:cNvSpPr/>
          <p:nvPr/>
        </p:nvSpPr>
        <p:spPr>
          <a:xfrm>
            <a:off x="706993" y="10549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F80DEEF-4717-5E8B-A545-CF3FC21C2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035" y="1128155"/>
            <a:ext cx="8198099" cy="58823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DB8EA-C259-8FCC-5376-F55559F2E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F55F366-3AF6-4ECF-CF40-B2EC9C20E1DF}"/>
              </a:ext>
            </a:extLst>
          </p:cNvPr>
          <p:cNvSpPr/>
          <p:nvPr/>
        </p:nvSpPr>
        <p:spPr>
          <a:xfrm>
            <a:off x="761047" y="73218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ru-RU" sz="305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Веб-сайт на локальном сервере</a:t>
            </a:r>
            <a:endParaRPr lang="en-US" sz="3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8" name="Прямоугольник 7">
            <a:extLst>
              <a:ext uri="{FF2B5EF4-FFF2-40B4-BE49-F238E27FC236}">
                <a16:creationId xmlns:a16="http://schemas.microsoft.com/office/drawing/2014/main" id="{A1D6C8A6-5990-72E3-2E45-F3555BF18EF5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793DA1AE-701F-5D81-C56B-AE923104E111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4F00AF1-2117-FC08-0551-6B69DA078C4D}"/>
              </a:ext>
            </a:extLst>
          </p:cNvPr>
          <p:cNvSpPr/>
          <p:nvPr/>
        </p:nvSpPr>
        <p:spPr>
          <a:xfrm>
            <a:off x="761047" y="1472103"/>
            <a:ext cx="4018879" cy="1781820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Server Panel: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модули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Apache 2.4, MySQL 8.0, PHP 8.2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5EEFE0F-67E3-3B84-89E8-DA03823F4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187" y="1322069"/>
            <a:ext cx="8747681" cy="6722401"/>
          </a:xfrm>
          <a:prstGeom prst="rect">
            <a:avLst/>
          </a:prstGeom>
        </p:spPr>
      </p:pic>
      <p:sp>
        <p:nvSpPr>
          <p:cNvPr id="3" name="Shape 10">
            <a:extLst>
              <a:ext uri="{FF2B5EF4-FFF2-40B4-BE49-F238E27FC236}">
                <a16:creationId xmlns:a16="http://schemas.microsoft.com/office/drawing/2014/main" id="{55CADE24-BC91-8A19-B6C5-75061001F3D6}"/>
              </a:ext>
            </a:extLst>
          </p:cNvPr>
          <p:cNvSpPr/>
          <p:nvPr/>
        </p:nvSpPr>
        <p:spPr>
          <a:xfrm>
            <a:off x="761046" y="1472103"/>
            <a:ext cx="4018879" cy="1781820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Создана база данных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college_db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(русская версия)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B67F25-CFC9-EAEA-CD23-30867018F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187" y="1331284"/>
            <a:ext cx="9406573" cy="6794266"/>
          </a:xfrm>
          <a:prstGeom prst="rect">
            <a:avLst/>
          </a:prstGeom>
        </p:spPr>
      </p:pic>
      <p:sp>
        <p:nvSpPr>
          <p:cNvPr id="6" name="Shape 10">
            <a:extLst>
              <a:ext uri="{FF2B5EF4-FFF2-40B4-BE49-F238E27FC236}">
                <a16:creationId xmlns:a16="http://schemas.microsoft.com/office/drawing/2014/main" id="{8D2C10EE-48F1-2B85-D516-7364231BBB5F}"/>
              </a:ext>
            </a:extLst>
          </p:cNvPr>
          <p:cNvSpPr/>
          <p:nvPr/>
        </p:nvSpPr>
        <p:spPr>
          <a:xfrm>
            <a:off x="761047" y="1493706"/>
            <a:ext cx="4018879" cy="243059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сайт колледжа: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меню (Сведения об ОО, Колледж сегодня, Абитуриенту, Студентам, Преподавателям и др.)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Новостная лента (рубрика «Новости», 3 последние новости на главной)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Страницы с контентом, копирующим оригинальный сайт колледжа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460B95-1278-515B-EF03-9437498D97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187" y="1331283"/>
            <a:ext cx="9406573" cy="680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32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EF923-3E0A-3500-F2B6-1F7FCEC37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E53E994-99C1-0CA5-AE13-5A70900E5A6C}"/>
              </a:ext>
            </a:extLst>
          </p:cNvPr>
          <p:cNvSpPr/>
          <p:nvPr/>
        </p:nvSpPr>
        <p:spPr>
          <a:xfrm>
            <a:off x="761047" y="73218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ru-RU" sz="305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Сравнительный анализ гостевых ОС</a:t>
            </a:r>
            <a:endParaRPr lang="en-US" sz="3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8" name="Прямоугольник 7">
            <a:extLst>
              <a:ext uri="{FF2B5EF4-FFF2-40B4-BE49-F238E27FC236}">
                <a16:creationId xmlns:a16="http://schemas.microsoft.com/office/drawing/2014/main" id="{6C2E6D75-0B67-A196-F9EA-FA8170B17ED0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DF868C95-548B-794E-2DDE-180500F44534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C61721D2-8AF3-65B5-A442-405DC0E06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000396"/>
              </p:ext>
            </p:extLst>
          </p:nvPr>
        </p:nvGraphicFramePr>
        <p:xfrm>
          <a:off x="761046" y="1692236"/>
          <a:ext cx="11126152" cy="4327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1538">
                  <a:extLst>
                    <a:ext uri="{9D8B030D-6E8A-4147-A177-3AD203B41FA5}">
                      <a16:colId xmlns:a16="http://schemas.microsoft.com/office/drawing/2014/main" val="3418666104"/>
                    </a:ext>
                  </a:extLst>
                </a:gridCol>
                <a:gridCol w="2781538">
                  <a:extLst>
                    <a:ext uri="{9D8B030D-6E8A-4147-A177-3AD203B41FA5}">
                      <a16:colId xmlns:a16="http://schemas.microsoft.com/office/drawing/2014/main" val="3755188039"/>
                    </a:ext>
                  </a:extLst>
                </a:gridCol>
                <a:gridCol w="2781538">
                  <a:extLst>
                    <a:ext uri="{9D8B030D-6E8A-4147-A177-3AD203B41FA5}">
                      <a16:colId xmlns:a16="http://schemas.microsoft.com/office/drawing/2014/main" val="2269375707"/>
                    </a:ext>
                  </a:extLst>
                </a:gridCol>
                <a:gridCol w="2781538">
                  <a:extLst>
                    <a:ext uri="{9D8B030D-6E8A-4147-A177-3AD203B41FA5}">
                      <a16:colId xmlns:a16="http://schemas.microsoft.com/office/drawing/2014/main" val="1243696457"/>
                    </a:ext>
                  </a:extLst>
                </a:gridCol>
              </a:tblGrid>
              <a:tr h="56845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Параметр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РЕД ОС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Linux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279390371"/>
                  </a:ext>
                </a:extLst>
              </a:tr>
              <a:tr h="568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Разработчик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РЕД СОФТ (Россия)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Source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059166424"/>
                  </a:ext>
                </a:extLst>
              </a:tr>
              <a:tr h="568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Лицензия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Платная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Платная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Бесплатная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52328873"/>
                  </a:ext>
                </a:extLst>
              </a:tr>
              <a:tr h="568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 ОЗУ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ГБ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ГБ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ГБ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940391254"/>
                  </a:ext>
                </a:extLst>
              </a:tr>
              <a:tr h="568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Совместимость с 1С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Нативно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Через сервер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526481714"/>
                  </a:ext>
                </a:extLst>
              </a:tr>
              <a:tr h="91685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Встроенный антивирус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Defender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644770427"/>
                  </a:ext>
                </a:extLst>
              </a:tr>
              <a:tr h="568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Стабильность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Очень высокая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7718410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3B5619C-2A1E-6D35-51DB-77EEB379F886}"/>
              </a:ext>
            </a:extLst>
          </p:cNvPr>
          <p:cNvSpPr txBox="1"/>
          <p:nvPr/>
        </p:nvSpPr>
        <p:spPr>
          <a:xfrm>
            <a:off x="761046" y="6169483"/>
            <a:ext cx="10012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РЕД ОС – для импортозамещения, Windows – для стандартной инфраструктуры, Linux – для серверов и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689036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94611" y="628949"/>
            <a:ext cx="515671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Результаты практики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4611" y="1645421"/>
            <a:ext cx="1324117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учебной практики (ПМ04) успешно выполнены следующие работы: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94611" y="6593443"/>
            <a:ext cx="13241179" cy="1073825"/>
          </a:xfrm>
          <a:prstGeom prst="roundRect">
            <a:avLst>
              <a:gd name="adj" fmla="val 2772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69" y="6888718"/>
            <a:ext cx="248007" cy="19835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39334" y="6816566"/>
            <a:ext cx="1239809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Исходный код проекта загружен на </a:t>
            </a:r>
            <a:r>
              <a:rPr lang="en-US" sz="1550" b="1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GitHub</a:t>
            </a:r>
            <a:r>
              <a:rPr lang="en-US" sz="155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и доступен для проверки. Все поставленные цели практики выполнены в полном объёме.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17250AC-0432-CEA8-658B-62B3EEF0F202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D01D8A9F-734C-F1EF-6C04-259A2EA34C36}"/>
              </a:ext>
            </a:extLst>
          </p:cNvPr>
          <p:cNvSpPr/>
          <p:nvPr/>
        </p:nvSpPr>
        <p:spPr>
          <a:xfrm>
            <a:off x="694611" y="1263470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D4AAE77F-282A-B2B3-DB3E-1D45E0CC7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990695"/>
              </p:ext>
            </p:extLst>
          </p:nvPr>
        </p:nvGraphicFramePr>
        <p:xfrm>
          <a:off x="694610" y="2012652"/>
          <a:ext cx="10049590" cy="4325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4795">
                  <a:extLst>
                    <a:ext uri="{9D8B030D-6E8A-4147-A177-3AD203B41FA5}">
                      <a16:colId xmlns:a16="http://schemas.microsoft.com/office/drawing/2014/main" val="1618544044"/>
                    </a:ext>
                  </a:extLst>
                </a:gridCol>
                <a:gridCol w="5024795">
                  <a:extLst>
                    <a:ext uri="{9D8B030D-6E8A-4147-A177-3AD203B41FA5}">
                      <a16:colId xmlns:a16="http://schemas.microsoft.com/office/drawing/2014/main" val="2058978684"/>
                    </a:ext>
                  </a:extLst>
                </a:gridCol>
              </a:tblGrid>
              <a:tr h="43963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 работ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526372282"/>
                  </a:ext>
                </a:extLst>
              </a:tr>
              <a:tr h="70908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Виртуализация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виртуальные машины (</a:t>
                      </a: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Ubuntu, </a:t>
                      </a: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РЕД ОС, </a:t>
                      </a: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Ubuntu Server, OpenMediaVault)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100326863"/>
                  </a:ext>
                </a:extLst>
              </a:tr>
              <a:tr h="70908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Установка ОС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операционные системы (</a:t>
                      </a: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Ubuntu Desktop, </a:t>
                      </a: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РЕД ОС 8, </a:t>
                      </a: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Ubuntu Server)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243982426"/>
                  </a:ext>
                </a:extLst>
              </a:tr>
              <a:tr h="4396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 и драйверы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8+ программных продуктов, драйверы NVIDIA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32973618"/>
                  </a:ext>
                </a:extLst>
              </a:tr>
              <a:tr h="4396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Доработка модуля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CRUD + история покупок, 5 Unit-тестов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042730334"/>
                  </a:ext>
                </a:extLst>
              </a:tr>
              <a:tr h="4396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Развёртывание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MongoDB, Docker, API (FastAPI), Piper TTS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53257921"/>
                  </a:ext>
                </a:extLst>
              </a:tr>
              <a:tr h="4396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Файловый сервер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OpenMediaVault </a:t>
                      </a: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 </a:t>
                      </a:r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SMB/NFS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59402346"/>
                  </a:ext>
                </a:extLst>
              </a:tr>
              <a:tr h="70908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Веб-сайт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WordPress 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 </a:t>
                      </a: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Server Panel (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меню, новости)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3922862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841</Words>
  <Application>Microsoft Office PowerPoint</Application>
  <PresentationFormat>Произвольный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Times New Roman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Дмитрий Путников</cp:lastModifiedBy>
  <cp:revision>10</cp:revision>
  <dcterms:created xsi:type="dcterms:W3CDTF">2026-04-20T09:20:00Z</dcterms:created>
  <dcterms:modified xsi:type="dcterms:W3CDTF">2026-05-05T05:19:50Z</dcterms:modified>
</cp:coreProperties>
</file>